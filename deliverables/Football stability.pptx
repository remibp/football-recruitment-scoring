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2.xml" ContentType="application/vnd.openxmlformats-officedocument.drawingml.chart+xml"/>
  <Override PartName="/ppt/notesSlides/notesSlide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150acfb430442d" /><Relationship Type="http://schemas.openxmlformats.org/officeDocument/2006/relationships/extended-properties" Target="/docProps/app.xml" Id="R0628cae089e74e8d" /><Relationship Type="http://schemas.openxmlformats.org/officeDocument/2006/relationships/officeDocument" Target="/ppt/presentation.xml" Id="R4907409bf64241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f90ecf84c34763"/>
  </p:sldMasterIdLst>
  <p:notesMasterIdLst>
    <p:notesMasterId xmlns:r="http://schemas.openxmlformats.org/officeDocument/2006/relationships" r:id="R832b78c371984012"/>
  </p:notesMasterIdLst>
  <p:sldIdLst>
    <p:sldId xmlns:r="http://schemas.openxmlformats.org/officeDocument/2006/relationships" id="256" r:id="Rba859e0d3a364f38"/>
    <p:sldId xmlns:r="http://schemas.openxmlformats.org/officeDocument/2006/relationships" id="257" r:id="Rd7f504d0cc5a48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6e891702ab4473" /><Relationship Type="http://schemas.openxmlformats.org/officeDocument/2006/relationships/slideMaster" Target="/ppt/slideMasters/slideMaster1.xml" Id="R1af90ecf84c34763" /><Relationship Type="http://schemas.openxmlformats.org/officeDocument/2006/relationships/notesMaster" Target="/ppt/notesMasters/notesMaster1.xml" Id="R832b78c371984012" /><Relationship Type="http://schemas.openxmlformats.org/officeDocument/2006/relationships/presProps" Target="/ppt/presProps.xml" Id="R588b46475d1249c5" /><Relationship Type="http://schemas.openxmlformats.org/officeDocument/2006/relationships/tableStyles" Target="/ppt/tableStyles.xml" Id="Rc2287502af8a4757" /><Relationship Type="http://schemas.openxmlformats.org/officeDocument/2006/relationships/slide" Target="/ppt/slides/slide1.xml" Id="Rba859e0d3a364f38" /><Relationship Type="http://schemas.openxmlformats.org/officeDocument/2006/relationships/slide" Target="/ppt/slides/slide2.xml" Id="Rd7f504d0cc5a48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28ee7eb84741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cae61849a7471e" /><Relationship Type="http://schemas.openxmlformats.org/officeDocument/2006/relationships/notesMaster" Target="/ppt/notesMasters/notesMaster1.xml" Id="Rc1155b91b99c42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2c9e55b2c34b5a" /><Relationship Type="http://schemas.openxmlformats.org/officeDocument/2006/relationships/notesMaster" Target="/ppt/notesMasters/notesMaster1.xml" Id="R074dc05d3fa140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d1754ecce241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769ea1f8e44b43" /><Relationship Type="http://schemas.openxmlformats.org/officeDocument/2006/relationships/slideLayout" Target="/ppt/slideLayouts/slideLayout1.xml" Id="R1bac07f1dac648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ac07f1dac648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38a4446226498f" /><Relationship Type="http://schemas.openxmlformats.org/officeDocument/2006/relationships/chart" Target="/ppt/slides/charts/chart1.xml" Id="R501bdfdc79714eb2" /><Relationship Type="http://schemas.openxmlformats.org/officeDocument/2006/relationships/notesSlide" Target="/ppt/notesSlides/notesSlide1.xml" Id="Rb7f4e594dffb42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a80b2b8874038" /><Relationship Type="http://schemas.openxmlformats.org/officeDocument/2006/relationships/chart" Target="/ppt/slides/charts/chart2.xml" Id="R699fc9974ed64509" /><Relationship Type="http://schemas.openxmlformats.org/officeDocument/2006/relationships/notesSlide" Target="/ppt/notesSlides/notesSlide2.xml" Id="R0fb2c65e91de41c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Logistic</c:v>
          </c:tx>
          <c:spPr>
            <a:ln xmlns:a="http://schemas.openxmlformats.org/drawingml/2006/main" w="38100">
              <a:solidFill>
                <a:srgbClr val="1B4A38"/>
              </a:solidFill>
            </a:ln>
          </c:spPr>
          <c:marker>
            <c:symbol val="circle"/>
            <c:size val="9"/>
            <c:spPr>
              <a:solidFill xmlns:a="http://schemas.openxmlformats.org/drawingml/2006/main">
                <a:srgbClr val="1B4A38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0.796474</c:v>
                </c:pt>
                <c:pt idx="1">
                  <c:v>0.826195</c:v>
                </c:pt>
                <c:pt idx="2">
                  <c:v>0.793797</c:v>
                </c:pt>
              </c:numCache>
            </c:numRef>
          </c:val>
          <c:smooth val="0"/>
        </c:ser>
        <c:ser>
          <c:idx val="1"/>
          <c:order val="1"/>
          <c:tx>
            <c:v>Random Forest</c:v>
          </c:tx>
          <c:spPr>
            <a:ln xmlns:a="http://schemas.openxmlformats.org/drawingml/2006/main" w="23813">
              <a:solidFill>
                <a:srgbClr val="B58E4F"/>
              </a:solidFill>
            </a:ln>
          </c:spPr>
          <c:marker>
            <c:symbol val="square"/>
            <c:size val="7"/>
            <c:spPr>
              <a:solidFill xmlns:a="http://schemas.openxmlformats.org/drawingml/2006/main">
                <a:srgbClr val="B58E4F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'Chart Data'!$D$2:$D$4</c:f>
              <c:numCache>
                <c:formatCode>0.00</c:formatCode>
                <c:ptCount val="3"/>
                <c:pt idx="0">
                  <c:v>0.776283</c:v>
                </c:pt>
                <c:pt idx="1">
                  <c:v>0.827962</c:v>
                </c:pt>
                <c:pt idx="2">
                  <c:v>0.771215</c:v>
                </c:pt>
              </c:numCache>
            </c:numRef>
          </c:val>
          <c:smooth val="0"/>
        </c:ser>
        <c:ser>
          <c:idx val="2"/>
          <c:order val="2"/>
          <c:tx>
            <c:v>XGBoost</c:v>
          </c:tx>
          <c:spPr>
            <a:ln xmlns:a="http://schemas.openxmlformats.org/drawingml/2006/main" w="23813">
              <a:solidFill>
                <a:srgbClr val="82948A"/>
              </a:solidFill>
            </a:ln>
          </c:spPr>
          <c:marker>
            <c:symbol val="diamond"/>
            <c:size val="7"/>
            <c:spPr>
              <a:solidFill xmlns:a="http://schemas.openxmlformats.org/drawingml/2006/main">
                <a:srgbClr val="82948A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'Chart Data'!$F$2:$F$4</c:f>
              <c:numCache>
                <c:formatCode>0.00</c:formatCode>
                <c:ptCount val="3"/>
                <c:pt idx="0">
                  <c:v>0.786085</c:v>
                </c:pt>
                <c:pt idx="1">
                  <c:v>0.833205</c:v>
                </c:pt>
                <c:pt idx="2">
                  <c:v>0.789122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7F5F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85"/>
          <c:min val="0.7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3DB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solidFill>
              <a:srgbClr val="F7F5F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F0"/>
        </a:solidFill>
        <a:ln xmlns:a="http://schemas.openxmlformats.org/drawingml/2006/main" w="0">
          <a:solidFill>
            <a:srgbClr val="F7F5F0"/>
          </a:solidFill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637267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7F5F0"/>
    </a:solidFill>
    <a:ln xmlns:a="http://schemas.openxmlformats.org/drawingml/2006/main" w="0">
      <a:solidFill>
        <a:srgbClr val="F7F5F0"/>
      </a:solidFill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Score change</c:v>
          </c:tx>
          <c:dPt>
            <c:idx val="0"/>
            <c:invertIfNegative val="0"/>
            <c:spPr>
              <a:solidFill xmlns:a="http://schemas.openxmlformats.org/drawingml/2006/main">
                <a:srgbClr val="D0E2D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7B49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6F967F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Logistic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0.1</c:v>
                </c:pt>
                <c:pt idx="1">
                  <c:v>0.23</c:v>
                </c:pt>
                <c:pt idx="2">
                  <c:v>0.37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>
                  <a:solidFill>
                    <a:srgbClr val="F7F5F0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173F31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7F5F0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173F31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7F5F0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173F31"/>
        </a:solidFill>
        <a:ln xmlns:a="http://schemas.openxmlformats.org/drawingml/2006/main" w="0">
          <a:solidFill>
            <a:srgbClr val="173F31"/>
          </a:solidFill>
        </a:ln>
      </c:spPr>
    </c:plotArea>
    <c:plotVisOnly val="1"/>
  </c:chart>
  <c:spPr>
    <a:solidFill xmlns:a="http://schemas.openxmlformats.org/drawingml/2006/main">
      <a:srgbClr val="173F31"/>
    </a:solidFill>
    <a:ln xmlns:a="http://schemas.openxmlformats.org/drawingml/2006/main" w="0">
      <a:solidFill>
        <a:srgbClr val="173F31"/>
      </a:solidFill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84C816-C5A9-4771-B368-ED71FAF1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650" b="0">
                <a:solidFill>
                  <a:srgbClr val="1B4A38"/>
                </a:solidFill>
                <a:latin typeface="Georgia"/>
                <a:ea typeface="Georgia"/>
                <a:cs typeface="Georgia"/>
              </a:defRPr>
            </a:pPr>
            <a:r>
              <a:rPr sz="4650" b="0">
                <a:solidFill>
                  <a:srgbClr val="1B4A38"/>
                </a:solidFill>
                <a:latin typeface="Georgia"/>
                <a:ea typeface="Georgia"/>
                <a:cs typeface="Georgia"/>
              </a:rPr>
              <a:t>Performance across seasons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CEB12-D9A7-4712-B141-27BCFDF8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rPr>
              <a:t>Nine leagues, with 2,057 observations in the test set.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F0D825-0D13-4EFB-A0D0-73A31284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67025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B4A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B4A38"/>
                </a:solidFill>
                <a:latin typeface="Helvetica Neue"/>
                <a:ea typeface="Helvetica Neue"/>
                <a:cs typeface="Helvetica Neue"/>
              </a:rPr>
              <a:t>LOGISTIC REGRESSION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E0BEA4-03D3-4387-9963-5DBAC160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34671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875" b="0">
                <a:solidFill>
                  <a:srgbClr val="1B4A38"/>
                </a:solidFill>
                <a:latin typeface="Georgia"/>
                <a:ea typeface="Georgia"/>
                <a:cs typeface="Georgia"/>
              </a:defRPr>
            </a:pPr>
            <a:r>
              <a:rPr sz="7875" b="0">
                <a:solidFill>
                  <a:srgbClr val="1B4A38"/>
                </a:solidFill>
                <a:latin typeface="Georgia"/>
                <a:ea typeface="Georgia"/>
                <a:cs typeface="Georgia"/>
              </a:rPr>
              <a:t>0.805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F70BAF-77D5-40E0-9793-74D50CC6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29125"/>
            <a:ext cx="3181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A1F1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A1F1C"/>
                </a:solidFill>
                <a:latin typeface="Helvetica Neue"/>
                <a:ea typeface="Helvetica Neue"/>
                <a:cs typeface="Helvetica Neue"/>
              </a:rPr>
              <a:t>Pooled ROC AUC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35633-0E37-4005-86C9-13105C14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76800"/>
            <a:ext cx="3257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rPr>
              <a:t>95% interval  0.777 to 0.833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7E6602-AC43-4298-9B24-86D92E68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29250"/>
            <a:ext cx="323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rPr>
              <a:t>200 bootstrap samples</a:t>
            </a:r>
          </a:p>
          <a:p xmlns:a="http://schemas.openxmlformats.org/drawingml/2006/main">
            <a:pPr>
              <a:defRPr sz="1575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rPr>
              <a:t>clustered by player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324350" y="2781300"/>
          <a:ext xmlns:a="http://schemas.openxmlformats.org/drawingml/2006/main" cx="71818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1bdfdc79714eb2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27C41-457E-4347-9B05-69813502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37267"/>
                </a:solidFill>
                <a:latin typeface="Helvetica Neue"/>
                <a:ea typeface="Helvetica Neue"/>
                <a:cs typeface="Helvetica Neue"/>
              </a:rPr>
              <a:t>ROC AUC</a:t>
            </a:r>
          </a:p>
        </p:txBody>
      </p:sp>
    </p:spTree>
    <p:extLst>
      <p:ext uri="{BB962C8B-B14F-4D97-AF65-F5344CB8AC3E}">
        <p14:creationId xmlns:p14="http://schemas.microsoft.com/office/powerpoint/2010/main" val="1004040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3F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3462EF-0579-4482-950C-8653B054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650" b="0">
                <a:solidFill>
                  <a:srgbClr val="F7F5F0"/>
                </a:solidFill>
                <a:latin typeface="Georgia"/>
                <a:ea typeface="Georgia"/>
                <a:cs typeface="Georgia"/>
              </a:defRPr>
            </a:pPr>
            <a:r>
              <a:rPr sz="4650" b="0">
                <a:solidFill>
                  <a:srgbClr val="F7F5F0"/>
                </a:solidFill>
                <a:latin typeface="Georgia"/>
                <a:ea typeface="Georgia"/>
                <a:cs typeface="Georgia"/>
              </a:rPr>
              <a:t>Sensitivity to input changes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0A09A-A44D-4DDA-BE44-70990EB7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C0D2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C0D2C4"/>
                </a:solidFill>
                <a:latin typeface="Helvetica Neue"/>
                <a:ea typeface="Helvetica Neue"/>
                <a:cs typeface="Helvetica Neue"/>
              </a:rPr>
              <a:t>1% training-SD noise on age, height and valuations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C7110-F61F-441B-AF2B-3FB097E9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28925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0D2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C0D2C4"/>
                </a:solidFill>
                <a:latin typeface="Helvetica Neue"/>
                <a:ea typeface="Helvetica Neue"/>
                <a:cs typeface="Helvetica Neue"/>
              </a:rPr>
              <a:t>LOGISTIC REGRESSION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3D5B8-5B73-4EB2-A4E6-0947A148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95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875" b="0">
                <a:solidFill>
                  <a:srgbClr val="F7F5F0"/>
                </a:solidFill>
                <a:latin typeface="Georgia"/>
                <a:ea typeface="Georgia"/>
                <a:cs typeface="Georgia"/>
              </a:defRPr>
            </a:pPr>
            <a:r>
              <a:rPr sz="7875" b="0">
                <a:solidFill>
                  <a:srgbClr val="F7F5F0"/>
                </a:solidFill>
                <a:latin typeface="Georgia"/>
                <a:ea typeface="Georgia"/>
                <a:cs typeface="Georgia"/>
              </a:rPr>
              <a:t>0.10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D16754-72F4-4AC2-8227-68972695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52850"/>
            <a:ext cx="714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C0D2C4"/>
                </a:solidFill>
                <a:latin typeface="Georgia"/>
                <a:ea typeface="Georgia"/>
                <a:cs typeface="Georgia"/>
              </a:defRPr>
            </a:pPr>
            <a:r>
              <a:rPr sz="2325" b="0">
                <a:solidFill>
                  <a:srgbClr val="C0D2C4"/>
                </a:solidFill>
                <a:latin typeface="Georgia"/>
                <a:ea typeface="Georgia"/>
                <a:cs typeface="Georgia"/>
              </a:rPr>
              <a:t>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8F811-2F13-4911-9784-B13E6B09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86275"/>
            <a:ext cx="347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C0D2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C0D2C4"/>
                </a:solidFill>
                <a:latin typeface="Helvetica Neue"/>
                <a:ea typeface="Helvetica Neue"/>
                <a:cs typeface="Helvetica Neue"/>
              </a:rPr>
              <a:t>Mean absolute score change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5C1DB-F6FE-4631-BBF9-57E88662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400300"/>
            <a:ext cx="600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7F5F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F7F5F0"/>
                </a:solidFill>
                <a:latin typeface="Helvetica Neue"/>
                <a:ea typeface="Helvetica Neue"/>
                <a:cs typeface="Helvetica Neue"/>
              </a:rPr>
              <a:t>Mean score change (pp)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924425" y="2809875"/>
          <a:ext xmlns:a="http://schemas.openxmlformats.org/drawingml/2006/main" cx="65817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9fc9974ed64509"/>
          </a:graphicData>
        </a:graphic>
      </p:graphicFrame>
      <p:graphicFrame>
        <p:nvGraphicFramePr>
          <p:cNvPr id="18" name=""/>
          <p:cNvGraphicFramePr/>
          <p:nvPr/>
        </p:nvGraphicFramePr>
        <p:xfrm>
          <a:off xmlns:a="http://schemas.openxmlformats.org/drawingml/2006/main" x="5381625" y="5381625"/>
          <a:ext xmlns:a="http://schemas.openxmlformats.org/drawingml/2006/main" cx="6124575" cy="781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81225"/>
                <a:gridCol w="1314450"/>
                <a:gridCol w="1314450"/>
                <a:gridCol w="1314450"/>
              </a:tblGrid>
              <a:tr h="3905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B3C6B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Score PSI</a:t>
                      </a:r>
                    </a:p>
                  </a:txBody>
                  <a:tcPr marL="91440" marR="91440" marT="45720" marB="45720">
                    <a:lnL w="0">
                      <a:solidFill>
                        <a:srgbClr val="173F31"/>
                      </a:solidFill>
                    </a:lnL>
                    <a:lnR w="0">
                      <a:solidFill>
                        <a:srgbClr val="173F31"/>
                      </a:solidFill>
                    </a:lnR>
                    <a:lnT w="0">
                      <a:solidFill>
                        <a:srgbClr val="173F31"/>
                      </a:solidFill>
                    </a:lnT>
                    <a:lnB w="0">
                      <a:solidFill>
                        <a:srgbClr val="173F31"/>
                      </a:solidFill>
                    </a:lnB>
                    <a:solidFill>
                      <a:srgbClr val="173F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B3C6B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Logistic</a:t>
                      </a:r>
                    </a:p>
                  </a:txBody>
                  <a:tcPr marL="91440" marR="91440" marT="45720" marB="45720">
                    <a:lnL w="0">
                      <a:solidFill>
                        <a:srgbClr val="173F31"/>
                      </a:solidFill>
                    </a:lnL>
                    <a:lnR w="0">
                      <a:solidFill>
                        <a:srgbClr val="173F31"/>
                      </a:solidFill>
                    </a:lnR>
                    <a:lnT w="0">
                      <a:solidFill>
                        <a:srgbClr val="173F31"/>
                      </a:solidFill>
                    </a:lnT>
                    <a:lnB w="0">
                      <a:solidFill>
                        <a:srgbClr val="173F31"/>
                      </a:solidFill>
                    </a:lnB>
                    <a:solidFill>
                      <a:srgbClr val="173F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B3C6B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Forest</a:t>
                      </a:r>
                    </a:p>
                  </a:txBody>
                  <a:tcPr marL="91440" marR="91440" marT="45720" marB="45720">
                    <a:lnL w="0">
                      <a:solidFill>
                        <a:srgbClr val="173F31"/>
                      </a:solidFill>
                    </a:lnL>
                    <a:lnR w="0">
                      <a:solidFill>
                        <a:srgbClr val="173F31"/>
                      </a:solidFill>
                    </a:lnR>
                    <a:lnT w="0">
                      <a:solidFill>
                        <a:srgbClr val="173F31"/>
                      </a:solidFill>
                    </a:lnT>
                    <a:lnB w="0">
                      <a:solidFill>
                        <a:srgbClr val="173F31"/>
                      </a:solidFill>
                    </a:lnB>
                    <a:solidFill>
                      <a:srgbClr val="173F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B3C6B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XGBoost</a:t>
                      </a:r>
                    </a:p>
                  </a:txBody>
                  <a:tcPr marL="91440" marR="91440" marT="45720" marB="45720">
                    <a:lnL w="0">
                      <a:solidFill>
                        <a:srgbClr val="173F31"/>
                      </a:solidFill>
                    </a:lnL>
                    <a:lnR w="0">
                      <a:solidFill>
                        <a:srgbClr val="173F31"/>
                      </a:solidFill>
                    </a:lnR>
                    <a:lnT w="0">
                      <a:solidFill>
                        <a:srgbClr val="173F31"/>
                      </a:solidFill>
                    </a:lnT>
                    <a:lnB w="0">
                      <a:solidFill>
                        <a:srgbClr val="173F31"/>
                      </a:solidFill>
                    </a:lnB>
                    <a:solidFill>
                      <a:srgbClr val="173F31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7F5F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Validation to test</a:t>
                      </a:r>
                    </a:p>
                  </a:txBody>
                  <a:tcPr marL="91440" marR="91440" marT="45720" marB="45720">
                    <a:lnL w="0">
                      <a:solidFill>
                        <a:srgbClr val="173F31"/>
                      </a:solidFill>
                    </a:lnL>
                    <a:lnR w="0">
                      <a:solidFill>
                        <a:srgbClr val="173F31"/>
                      </a:solidFill>
                    </a:lnR>
                    <a:lnT w="0">
                      <a:solidFill>
                        <a:srgbClr val="173F31"/>
                      </a:solidFill>
                    </a:lnT>
                    <a:lnB w="0">
                      <a:solidFill>
                        <a:srgbClr val="173F31"/>
                      </a:solidFill>
                    </a:lnB>
                    <a:solidFill>
                      <a:srgbClr val="173F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7F5F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0.029</a:t>
                      </a:r>
                    </a:p>
                  </a:txBody>
                  <a:tcPr marL="91440" marR="91440" marT="45720" marB="45720">
                    <a:lnL w="0">
                      <a:solidFill>
                        <a:srgbClr val="173F31"/>
                      </a:solidFill>
                    </a:lnL>
                    <a:lnR w="0">
                      <a:solidFill>
                        <a:srgbClr val="173F31"/>
                      </a:solidFill>
                    </a:lnR>
                    <a:lnT w="0">
                      <a:solidFill>
                        <a:srgbClr val="173F31"/>
                      </a:solidFill>
                    </a:lnT>
                    <a:lnB w="0">
                      <a:solidFill>
                        <a:srgbClr val="173F31"/>
                      </a:solidFill>
                    </a:lnB>
                    <a:solidFill>
                      <a:srgbClr val="173F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7F5F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0.012</a:t>
                      </a:r>
                    </a:p>
                  </a:txBody>
                  <a:tcPr marL="91440" marR="91440" marT="45720" marB="45720">
                    <a:lnL w="0">
                      <a:solidFill>
                        <a:srgbClr val="173F31"/>
                      </a:solidFill>
                    </a:lnL>
                    <a:lnR w="0">
                      <a:solidFill>
                        <a:srgbClr val="173F31"/>
                      </a:solidFill>
                    </a:lnR>
                    <a:lnT w="0">
                      <a:solidFill>
                        <a:srgbClr val="173F31"/>
                      </a:solidFill>
                    </a:lnT>
                    <a:lnB w="0">
                      <a:solidFill>
                        <a:srgbClr val="173F31"/>
                      </a:solidFill>
                    </a:lnB>
                    <a:solidFill>
                      <a:srgbClr val="173F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7F5F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0.011</a:t>
                      </a:r>
                    </a:p>
                  </a:txBody>
                  <a:tcPr marL="91440" marR="91440" marT="45720" marB="45720">
                    <a:lnL w="0">
                      <a:solidFill>
                        <a:srgbClr val="173F31"/>
                      </a:solidFill>
                    </a:lnL>
                    <a:lnR w="0">
                      <a:solidFill>
                        <a:srgbClr val="173F31"/>
                      </a:solidFill>
                    </a:lnR>
                    <a:lnT w="0">
                      <a:solidFill>
                        <a:srgbClr val="173F31"/>
                      </a:solidFill>
                    </a:lnT>
                    <a:lnB w="0">
                      <a:solidFill>
                        <a:srgbClr val="173F31"/>
                      </a:solidFill>
                    </a:lnB>
                    <a:solidFill>
                      <a:srgbClr val="173F3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3052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2026-09-22T15:13:41.7520000Z</dcterms:created>
  <dcterms:modified xsi:type="dcterms:W3CDTF">2026-09-22T15:13:41.7520000Z</dcterms:modified>
</coreProperties>
</file>