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90957c5bf204929" /><Relationship Type="http://schemas.openxmlformats.org/officeDocument/2006/relationships/extended-properties" Target="/docProps/app.xml" Id="R30a734de99fb43fb" /><Relationship Type="http://schemas.openxmlformats.org/officeDocument/2006/relationships/officeDocument" Target="/ppt/presentation.xml" Id="Rd092d6449df94cbd" /></Relationships>
</file>

<file path=ppt/presentation.xml><?xml version="1.0" encoding="utf-8"?>
<p:presentation xmlns:p="http://schemas.openxmlformats.org/presentationml/2006/main">
  <p:sldMasterIdLst>
    <p:sldMasterId xmlns:r="http://schemas.openxmlformats.org/officeDocument/2006/relationships" id="2147483648" r:id="R411d99f794de4ddf"/>
  </p:sldMasterIdLst>
  <p:notesMasterIdLst>
    <p:notesMasterId xmlns:r="http://schemas.openxmlformats.org/officeDocument/2006/relationships" r:id="Rae07c37592004dad"/>
  </p:notesMasterIdLst>
  <p:sldIdLst>
    <p:sldId xmlns:r="http://schemas.openxmlformats.org/officeDocument/2006/relationships" id="256" r:id="R91e87c9717414b13"/>
    <p:sldId xmlns:r="http://schemas.openxmlformats.org/officeDocument/2006/relationships" id="257" r:id="Rdea1646dbcdf440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c70c591391840d2" /><Relationship Type="http://schemas.openxmlformats.org/officeDocument/2006/relationships/slideMaster" Target="/ppt/slideMasters/slideMaster1.xml" Id="R411d99f794de4ddf" /><Relationship Type="http://schemas.openxmlformats.org/officeDocument/2006/relationships/notesMaster" Target="/ppt/notesMasters/notesMaster1.xml" Id="Rae07c37592004dad" /><Relationship Type="http://schemas.openxmlformats.org/officeDocument/2006/relationships/presProps" Target="/ppt/presProps.xml" Id="Rcded7c3801604c88" /><Relationship Type="http://schemas.openxmlformats.org/officeDocument/2006/relationships/tableStyles" Target="/ppt/tableStyles.xml" Id="R090aa65652e0459d" /><Relationship Type="http://schemas.openxmlformats.org/officeDocument/2006/relationships/slide" Target="/ppt/slides/slide1.xml" Id="R91e87c9717414b13" /><Relationship Type="http://schemas.openxmlformats.org/officeDocument/2006/relationships/slide" Target="/ppt/slides/slide2.xml" Id="Rdea1646dbcdf440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883730eba65454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721b322abae4a8e" /><Relationship Type="http://schemas.openxmlformats.org/officeDocument/2006/relationships/notesMaster" Target="/ppt/notesMasters/notesMaster1.xml" Id="R49187d65bf1a447c" /></Relationships>
</file>

<file path=ppt/notesSlides/_rels/notesSlide2.xml.rels>&#65279;<?xml version="1.0" encoding="utf-8"?><Relationships xmlns="http://schemas.openxmlformats.org/package/2006/relationships"><Relationship Type="http://schemas.openxmlformats.org/officeDocument/2006/relationships/slide" Target="/ppt/slides/slide2.xml" Id="Re3e17addae78469f" /><Relationship Type="http://schemas.openxmlformats.org/officeDocument/2006/relationships/notesMaster" Target="/ppt/notesMasters/notesMaster1.xml" Id="R1cc4ccea792947d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45 seconds. We train on older seasons, validate on 2022 and evaluate on 2023 to 2025. The three models perform similarly, with AUC around 0.80. Logistic regression reaches 0.805 overall. We resample players, keeping their repeated seasons together, 200 times. The paired interval against XGBoost includes zero, so we cannot claim a decisive AUC advantage. Every observed valuation date is strictly before July 1. Missing next-season coverage remains unknown. Source: reports/metrics.csv, reports/bootstrap_auc.csv, reports/paired_auc_comparisons.txt and dataset_final.parquet at https://github.com/RemiBp/football-recruitment-scoring. TabICL reaches 0.811 with a 1500-row training context, so it is reported separately with matched baselines.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45 seconds. We perturb continuous measurements by one percent of their training standard deviation, using the same noise for all models. Logistic scores change by about 0.10 percentage points on average, versus 0.23 for Random Forest and 0.37 for XGBoost. This supports greater robustness to this specific perturbation. Five random seeds produce small AUC ranges for both tree models. PSI separately measures distribution shift and has no universal pass-fail threshold. We also refit logistic coefficients in 200 player-cluster bootstraps. These checks support considering the simpler model, but fairness and interpretation still need the group review. Source: reports/perturbations.csv, reports/seed_variation.csv, reports/psi.csv and reports/coefficient_intervals.csv at https://github.com/RemiBp/football-recruitment-scoring. Score PSI shown uses validation as its reference. Full feature PSI uses training bins.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a86cd8697ba401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54aff6697fa4870" /><Relationship Type="http://schemas.openxmlformats.org/officeDocument/2006/relationships/slideLayout" Target="/ppt/slideLayouts/slideLayout1.xml" Id="Rbffb494b9fc44a8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ffb494b9fc44a8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83a578ba4b64b10" /><Relationship Type="http://schemas.openxmlformats.org/officeDocument/2006/relationships/chart" Target="/ppt/slides/charts/chart1.xml" Id="R57f391015fcc4a33" /><Relationship Type="http://schemas.openxmlformats.org/officeDocument/2006/relationships/notesSlide" Target="/ppt/notesSlides/notesSlide1.xml" Id="R4854d7798b26421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048257a5cb54c34" /><Relationship Type="http://schemas.openxmlformats.org/officeDocument/2006/relationships/notesSlide" Target="/ppt/notesSlides/notesSlide2.xml" Id="R1bc86077123d439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Logistic</c:v>
          </c:tx>
          <c:spPr>
            <a:ln xmlns:a="http://schemas.openxmlformats.org/drawingml/2006/main" w="28575">
              <a:solidFill>
                <a:srgbClr val="184E38"/>
              </a:solidFill>
            </a:ln>
          </c:spPr>
          <c:marker>
            <c:symbol val="circle"/>
            <c:size val="8"/>
            <c:spPr>
              <a:solidFill xmlns:a="http://schemas.openxmlformats.org/drawingml/2006/main">
                <a:srgbClr val="184E38"/>
              </a:solidFill>
            </c:spPr>
          </c:marker>
          <c:cat>
            <c:numRef>
              <c:f>'Chart Data'!$A$2:$A$4</c:f>
              <c:numCache>
                <c:formatCode>General</c:formatCode>
                <c:ptCount val="3"/>
                <c:pt idx="0">
                  <c:v>2023</c:v>
                </c:pt>
                <c:pt idx="1">
                  <c:v>2024</c:v>
                </c:pt>
                <c:pt idx="2">
                  <c:v>2025</c:v>
                </c:pt>
              </c:numCache>
            </c:numRef>
          </c:cat>
          <c:val>
            <c:numRef>
              <c:f>'Chart Data'!$B$2:$B$4</c:f>
              <c:numCache>
                <c:formatCode>0.00</c:formatCode>
                <c:ptCount val="3"/>
                <c:pt idx="0">
                  <c:v>0.796474</c:v>
                </c:pt>
                <c:pt idx="1">
                  <c:v>0.826195</c:v>
                </c:pt>
                <c:pt idx="2">
                  <c:v>0.793797</c:v>
                </c:pt>
              </c:numCache>
            </c:numRef>
          </c:val>
          <c:smooth val="0"/>
        </c:ser>
        <c:ser>
          <c:idx val="1"/>
          <c:order val="1"/>
          <c:tx>
            <c:v>Random Forest</c:v>
          </c:tx>
          <c:spPr>
            <a:ln xmlns:a="http://schemas.openxmlformats.org/drawingml/2006/main" w="28575">
              <a:solidFill>
                <a:srgbClr val="A98039"/>
              </a:solidFill>
            </a:ln>
          </c:spPr>
          <c:marker>
            <c:symbol val="circle"/>
            <c:size val="8"/>
            <c:spPr>
              <a:solidFill xmlns:a="http://schemas.openxmlformats.org/drawingml/2006/main">
                <a:srgbClr val="A98039"/>
              </a:solidFill>
            </c:spPr>
          </c:marker>
          <c:cat>
            <c:numRef>
              <c:f>'Chart Data'!$C$2:$C$4</c:f>
              <c:numCache>
                <c:formatCode>General</c:formatCode>
                <c:ptCount val="3"/>
                <c:pt idx="0">
                  <c:v>2023</c:v>
                </c:pt>
                <c:pt idx="1">
                  <c:v>2024</c:v>
                </c:pt>
                <c:pt idx="2">
                  <c:v>2025</c:v>
                </c:pt>
              </c:numCache>
            </c:numRef>
          </c:cat>
          <c:val>
            <c:numRef>
              <c:f>'Chart Data'!$D$2:$D$4</c:f>
              <c:numCache>
                <c:formatCode>0.00</c:formatCode>
                <c:ptCount val="3"/>
                <c:pt idx="0">
                  <c:v>0.776283</c:v>
                </c:pt>
                <c:pt idx="1">
                  <c:v>0.827962</c:v>
                </c:pt>
                <c:pt idx="2">
                  <c:v>0.771215</c:v>
                </c:pt>
              </c:numCache>
            </c:numRef>
          </c:val>
          <c:smooth val="0"/>
        </c:ser>
        <c:ser>
          <c:idx val="2"/>
          <c:order val="2"/>
          <c:tx>
            <c:v>XGBoost</c:v>
          </c:tx>
          <c:spPr>
            <a:ln xmlns:a="http://schemas.openxmlformats.org/drawingml/2006/main" w="28575">
              <a:solidFill>
                <a:srgbClr val="627892"/>
              </a:solidFill>
            </a:ln>
          </c:spPr>
          <c:marker>
            <c:symbol val="circle"/>
            <c:size val="8"/>
            <c:spPr>
              <a:solidFill xmlns:a="http://schemas.openxmlformats.org/drawingml/2006/main">
                <a:srgbClr val="627892"/>
              </a:solidFill>
            </c:spPr>
          </c:marker>
          <c:cat>
            <c:numRef>
              <c:f>'Chart Data'!$E$2:$E$4</c:f>
              <c:numCache>
                <c:formatCode>General</c:formatCode>
                <c:ptCount val="3"/>
                <c:pt idx="0">
                  <c:v>2023</c:v>
                </c:pt>
                <c:pt idx="1">
                  <c:v>2024</c:v>
                </c:pt>
                <c:pt idx="2">
                  <c:v>2025</c:v>
                </c:pt>
              </c:numCache>
            </c:numRef>
          </c:cat>
          <c:val>
            <c:numRef>
              <c:f>'Chart Data'!$F$2:$F$4</c:f>
              <c:numCache>
                <c:formatCode>0.00</c:formatCode>
                <c:ptCount val="3"/>
                <c:pt idx="0">
                  <c:v>0.786085</c:v>
                </c:pt>
                <c:pt idx="1">
                  <c:v>0.833205</c:v>
                </c:pt>
                <c:pt idx="2">
                  <c:v>0.789122</c:v>
                </c:pt>
              </c:numCache>
            </c:numRef>
          </c:val>
          <c:smooth val="0"/>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Test season</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max val="0.85"/>
          <c:min val="0.7"/>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ROC AUC</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7F6F0"/>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latin typeface="Helvetica Neue"/>
              <a:ea typeface="Helvetica Neue"/>
              <a:cs typeface="Helvetica Neue"/>
            </a:defRPr>
          </a:pPr>
        </a:p>
      </c:txPr>
    </c:legend>
    <c:plotVisOnly val="1"/>
  </c:chart>
  <c:spPr>
    <a:solidFill xmlns:a="http://schemas.openxmlformats.org/drawingml/2006/main">
      <a:srgbClr val="F7F6F0"/>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BB3320D-A4B2-40FC-9E25-C74886CD1379}"/>
              </a:ext>
            </a:extLst>
          </p:cNvPr>
          <p:cNvSpPr>
            <a:spLocks xmlns:a="http://schemas.openxmlformats.org/drawingml/2006/main" noGrp="1"/>
          </p:cNvSpPr>
          <p:nvPr/>
        </p:nvSpPr>
        <p:spPr>
          <a:xfrm xmlns:a="http://schemas.openxmlformats.org/drawingml/2006/main">
            <a:off x="590550" y="304800"/>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266"/>
                </a:solidFill>
                <a:latin typeface="Helvetica Neue"/>
                <a:ea typeface="Helvetica Neue"/>
                <a:cs typeface="Helvetica Neue"/>
              </a:defRPr>
            </a:pPr>
            <a:r>
              <a:rPr sz="1200" b="0">
                <a:solidFill>
                  <a:srgbClr val="617266"/>
                </a:solidFill>
                <a:latin typeface="Helvetica Neue"/>
                <a:ea typeface="Helvetica Neue"/>
                <a:cs typeface="Helvetica Neue"/>
              </a:rPr>
              <a:t>FOOTBALL RECRUITMENT SCORING</a:t>
            </a:r>
          </a:p>
        </p:txBody>
      </p:sp>
      <p:sp>
        <p:nvSpPr>
          <p:cNvPr id="2" name="">
            <a:extLst xmlns:a="http://schemas.openxmlformats.org/drawingml/2006/main">
              <a:ext uri="{FF2B5EF4-FFF2-40B4-BE49-F238E27FC236}">
                <a16:creationId xmlns:a16="http://schemas.microsoft.com/office/drawing/2014/main" id="{478B258F-1D92-4F35-97F4-BF2EEC28921B}"/>
              </a:ext>
            </a:extLst>
          </p:cNvPr>
          <p:cNvSpPr>
            <a:spLocks xmlns:a="http://schemas.openxmlformats.org/drawingml/2006/main" noGrp="1"/>
          </p:cNvSpPr>
          <p:nvPr/>
        </p:nvSpPr>
        <p:spPr>
          <a:xfrm xmlns:a="http://schemas.openxmlformats.org/drawingml/2006/main">
            <a:off x="590550" y="8286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0">
                <a:solidFill>
                  <a:srgbClr val="203F30"/>
                </a:solidFill>
                <a:latin typeface="Helvetica Neue"/>
                <a:ea typeface="Helvetica Neue"/>
                <a:cs typeface="Helvetica Neue"/>
              </a:defRPr>
            </a:pPr>
            <a:r>
              <a:rPr sz="3450" b="0">
                <a:solidFill>
                  <a:srgbClr val="203F30"/>
                </a:solidFill>
                <a:latin typeface="Helvetica Neue"/>
                <a:ea typeface="Helvetica Neue"/>
                <a:cs typeface="Helvetica Neue"/>
              </a:rPr>
              <a:t>Performance across future seasons</a:t>
            </a:r>
          </a:p>
        </p:txBody>
      </p:sp>
      <p:sp>
        <p:nvSpPr>
          <p:cNvPr id="3" name="">
            <a:extLst xmlns:a="http://schemas.openxmlformats.org/drawingml/2006/main">
              <a:ext uri="{FF2B5EF4-FFF2-40B4-BE49-F238E27FC236}">
                <a16:creationId xmlns:a16="http://schemas.microsoft.com/office/drawing/2014/main" id="{9EBD6023-D339-4010-9767-17077BF97036}"/>
              </a:ext>
            </a:extLst>
          </p:cNvPr>
          <p:cNvSpPr>
            <a:spLocks xmlns:a="http://schemas.openxmlformats.org/drawingml/2006/main" noGrp="1"/>
          </p:cNvSpPr>
          <p:nvPr/>
        </p:nvSpPr>
        <p:spPr>
          <a:xfrm xmlns:a="http://schemas.openxmlformats.org/drawingml/2006/main">
            <a:off x="11049000" y="62865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266"/>
                </a:solidFill>
                <a:latin typeface="Helvetica Neue"/>
                <a:ea typeface="Helvetica Neue"/>
                <a:cs typeface="Helvetica Neue"/>
              </a:defRPr>
            </a:pPr>
            <a:r>
              <a:rPr sz="1275" b="0">
                <a:solidFill>
                  <a:srgbClr val="617266"/>
                </a:solidFill>
                <a:latin typeface="Helvetica Neue"/>
                <a:ea typeface="Helvetica Neue"/>
                <a:cs typeface="Helvetica Neue"/>
              </a:rPr>
              <a:t>1/2</a:t>
            </a:r>
          </a:p>
        </p:txBody>
      </p:sp>
      <p:graphicFrame>
        <p:nvGraphicFramePr>
          <p:cNvPr id="14" name="Chart"/>
          <p:cNvGraphicFramePr/>
          <p:nvPr/>
        </p:nvGraphicFramePr>
        <p:xfrm>
          <a:off xmlns:a="http://schemas.openxmlformats.org/drawingml/2006/main" x="590550" y="1809750"/>
          <a:ext xmlns:a="http://schemas.openxmlformats.org/drawingml/2006/main" cx="7334250" cy="3810000"/>
        </p:xfrm>
        <a:graphic xmlns:a="http://schemas.openxmlformats.org/drawingml/2006/main">
          <a:graphicData uri="http://schemas.openxmlformats.org/drawingml/2006/chart">
            <c:chart xmlns:r="http://schemas.openxmlformats.org/officeDocument/2006/relationships" xmlns:c="http://schemas.openxmlformats.org/drawingml/2006/chart" r:id="R57f391015fcc4a33"/>
          </a:graphicData>
        </a:graphic>
      </p:graphicFrame>
      <p:sp>
        <p:nvSpPr>
          <p:cNvPr id="5" name="">
            <a:extLst xmlns:a="http://schemas.openxmlformats.org/drawingml/2006/main">
              <a:ext uri="{FF2B5EF4-FFF2-40B4-BE49-F238E27FC236}">
                <a16:creationId xmlns:a16="http://schemas.microsoft.com/office/drawing/2014/main" id="{780F140B-940F-4FBF-931E-1FA11DEBFE1F}"/>
              </a:ext>
            </a:extLst>
          </p:cNvPr>
          <p:cNvSpPr>
            <a:spLocks xmlns:a="http://schemas.openxmlformats.org/drawingml/2006/main" noGrp="1"/>
          </p:cNvSpPr>
          <p:nvPr/>
        </p:nvSpPr>
        <p:spPr>
          <a:xfrm xmlns:a="http://schemas.openxmlformats.org/drawingml/2006/main">
            <a:off x="8572500" y="1828800"/>
            <a:ext cx="285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03F30"/>
                </a:solidFill>
                <a:latin typeface="Helvetica Neue"/>
                <a:ea typeface="Helvetica Neue"/>
                <a:cs typeface="Helvetica Neue"/>
              </a:defRPr>
            </a:pPr>
            <a:r>
              <a:rPr sz="3600" b="1">
                <a:solidFill>
                  <a:srgbClr val="203F30"/>
                </a:solidFill>
                <a:latin typeface="Helvetica Neue"/>
                <a:ea typeface="Helvetica Neue"/>
                <a:cs typeface="Helvetica Neue"/>
              </a:rPr>
              <a:t>2,057</a:t>
            </a:r>
          </a:p>
        </p:txBody>
      </p:sp>
      <p:sp>
        <p:nvSpPr>
          <p:cNvPr id="6" name="">
            <a:extLst xmlns:a="http://schemas.openxmlformats.org/drawingml/2006/main">
              <a:ext uri="{FF2B5EF4-FFF2-40B4-BE49-F238E27FC236}">
                <a16:creationId xmlns:a16="http://schemas.microsoft.com/office/drawing/2014/main" id="{63DB00E5-E3AF-40D8-9194-B84EB5BCA0E8}"/>
              </a:ext>
            </a:extLst>
          </p:cNvPr>
          <p:cNvSpPr>
            <a:spLocks xmlns:a="http://schemas.openxmlformats.org/drawingml/2006/main" noGrp="1"/>
          </p:cNvSpPr>
          <p:nvPr/>
        </p:nvSpPr>
        <p:spPr>
          <a:xfrm xmlns:a="http://schemas.openxmlformats.org/drawingml/2006/main">
            <a:off x="8572500" y="240030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266"/>
                </a:solidFill>
                <a:latin typeface="Helvetica Neue"/>
                <a:ea typeface="Helvetica Neue"/>
                <a:cs typeface="Helvetica Neue"/>
              </a:defRPr>
            </a:pPr>
            <a:r>
              <a:rPr sz="1800" b="0">
                <a:solidFill>
                  <a:srgbClr val="617266"/>
                </a:solidFill>
                <a:latin typeface="Helvetica Neue"/>
                <a:ea typeface="Helvetica Neue"/>
                <a:cs typeface="Helvetica Neue"/>
              </a:rPr>
              <a:t>test observations</a:t>
            </a:r>
          </a:p>
        </p:txBody>
      </p:sp>
      <p:sp>
        <p:nvSpPr>
          <p:cNvPr id="7" name="">
            <a:extLst xmlns:a="http://schemas.openxmlformats.org/drawingml/2006/main">
              <a:ext uri="{FF2B5EF4-FFF2-40B4-BE49-F238E27FC236}">
                <a16:creationId xmlns:a16="http://schemas.microsoft.com/office/drawing/2014/main" id="{ACDCE035-E40A-4234-86B5-FAF043A9446C}"/>
              </a:ext>
            </a:extLst>
          </p:cNvPr>
          <p:cNvSpPr>
            <a:spLocks xmlns:a="http://schemas.openxmlformats.org/drawingml/2006/main" noGrp="1"/>
          </p:cNvSpPr>
          <p:nvPr/>
        </p:nvSpPr>
        <p:spPr>
          <a:xfrm xmlns:a="http://schemas.openxmlformats.org/drawingml/2006/main">
            <a:off x="8572500" y="3238500"/>
            <a:ext cx="285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03F30"/>
                </a:solidFill>
                <a:latin typeface="Helvetica Neue"/>
                <a:ea typeface="Helvetica Neue"/>
                <a:cs typeface="Helvetica Neue"/>
              </a:defRPr>
            </a:pPr>
            <a:r>
              <a:rPr sz="3600" b="1">
                <a:solidFill>
                  <a:srgbClr val="203F30"/>
                </a:solidFill>
                <a:latin typeface="Helvetica Neue"/>
                <a:ea typeface="Helvetica Neue"/>
                <a:cs typeface="Helvetica Neue"/>
              </a:rPr>
              <a:t>0.805</a:t>
            </a:r>
          </a:p>
        </p:txBody>
      </p:sp>
      <p:sp>
        <p:nvSpPr>
          <p:cNvPr id="8" name="">
            <a:extLst xmlns:a="http://schemas.openxmlformats.org/drawingml/2006/main">
              <a:ext uri="{FF2B5EF4-FFF2-40B4-BE49-F238E27FC236}">
                <a16:creationId xmlns:a16="http://schemas.microsoft.com/office/drawing/2014/main" id="{3A6DF01D-08E2-4ADF-AEF8-00AC2B0B5640}"/>
              </a:ext>
            </a:extLst>
          </p:cNvPr>
          <p:cNvSpPr>
            <a:spLocks xmlns:a="http://schemas.openxmlformats.org/drawingml/2006/main" noGrp="1"/>
          </p:cNvSpPr>
          <p:nvPr/>
        </p:nvSpPr>
        <p:spPr>
          <a:xfrm xmlns:a="http://schemas.openxmlformats.org/drawingml/2006/main">
            <a:off x="8572500" y="382905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266"/>
                </a:solidFill>
                <a:latin typeface="Helvetica Neue"/>
                <a:ea typeface="Helvetica Neue"/>
                <a:cs typeface="Helvetica Neue"/>
              </a:defRPr>
            </a:pPr>
            <a:r>
              <a:rPr sz="1800" b="0">
                <a:solidFill>
                  <a:srgbClr val="617266"/>
                </a:solidFill>
                <a:latin typeface="Helvetica Neue"/>
                <a:ea typeface="Helvetica Neue"/>
                <a:cs typeface="Helvetica Neue"/>
              </a:rPr>
              <a:t>Logistic pooled AUC</a:t>
            </a:r>
          </a:p>
        </p:txBody>
      </p:sp>
      <p:sp>
        <p:nvSpPr>
          <p:cNvPr id="9" name="">
            <a:extLst xmlns:a="http://schemas.openxmlformats.org/drawingml/2006/main">
              <a:ext uri="{FF2B5EF4-FFF2-40B4-BE49-F238E27FC236}">
                <a16:creationId xmlns:a16="http://schemas.microsoft.com/office/drawing/2014/main" id="{24226C65-37E5-4145-81E3-033EE7F22CDB}"/>
              </a:ext>
            </a:extLst>
          </p:cNvPr>
          <p:cNvSpPr>
            <a:spLocks xmlns:a="http://schemas.openxmlformats.org/drawingml/2006/main" noGrp="1"/>
          </p:cNvSpPr>
          <p:nvPr/>
        </p:nvSpPr>
        <p:spPr>
          <a:xfrm xmlns:a="http://schemas.openxmlformats.org/drawingml/2006/main">
            <a:off x="8572500" y="4533900"/>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03F30"/>
                </a:solidFill>
                <a:latin typeface="Helvetica Neue"/>
                <a:ea typeface="Helvetica Neue"/>
                <a:cs typeface="Helvetica Neue"/>
              </a:defRPr>
            </a:pPr>
            <a:r>
              <a:rPr sz="1650" b="0">
                <a:solidFill>
                  <a:srgbClr val="203F30"/>
                </a:solidFill>
                <a:latin typeface="Helvetica Neue"/>
                <a:ea typeface="Helvetica Neue"/>
                <a:cs typeface="Helvetica Neue"/>
              </a:rPr>
              <a:t>200 player-cluster samples</a:t>
            </a:r>
          </a:p>
          <a:p xmlns:a="http://schemas.openxmlformats.org/drawingml/2006/main">
            <a:pPr>
              <a:defRPr sz="1650" b="0">
                <a:solidFill>
                  <a:srgbClr val="203F30"/>
                </a:solidFill>
                <a:latin typeface="Helvetica Neue"/>
                <a:ea typeface="Helvetica Neue"/>
                <a:cs typeface="Helvetica Neue"/>
              </a:defRPr>
            </a:pPr>
            <a:r>
              <a:rPr sz="1650" b="0">
                <a:solidFill>
                  <a:srgbClr val="203F30"/>
                </a:solidFill>
                <a:latin typeface="Helvetica Neue"/>
                <a:ea typeface="Helvetica Neue"/>
                <a:cs typeface="Helvetica Neue"/>
              </a:rPr>
              <a:t>95% CI 0.777 to 0.833</a:t>
            </a:r>
          </a:p>
        </p:txBody>
      </p:sp>
      <p:sp>
        <p:nvSpPr>
          <p:cNvPr id="10" name="">
            <a:extLst xmlns:a="http://schemas.openxmlformats.org/drawingml/2006/main">
              <a:ext uri="{FF2B5EF4-FFF2-40B4-BE49-F238E27FC236}">
                <a16:creationId xmlns:a16="http://schemas.microsoft.com/office/drawing/2014/main" id="{72A76D15-121C-4AEF-BDD7-332B76492A1F}"/>
              </a:ext>
            </a:extLst>
          </p:cNvPr>
          <p:cNvSpPr>
            <a:spLocks xmlns:a="http://schemas.openxmlformats.org/drawingml/2006/main" noGrp="1"/>
          </p:cNvSpPr>
          <p:nvPr/>
        </p:nvSpPr>
        <p:spPr>
          <a:xfrm xmlns:a="http://schemas.openxmlformats.org/drawingml/2006/main">
            <a:off x="590550" y="590550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17266"/>
                </a:solidFill>
                <a:latin typeface="Helvetica Neue"/>
                <a:ea typeface="Helvetica Neue"/>
                <a:cs typeface="Helvetica Neue"/>
              </a:defRPr>
            </a:pPr>
            <a:r>
              <a:rPr sz="1650" b="0">
                <a:solidFill>
                  <a:srgbClr val="617266"/>
                </a:solidFill>
                <a:latin typeface="Helvetica Neue"/>
                <a:ea typeface="Helvetica Neue"/>
                <a:cs typeface="Helvetica Neue"/>
              </a:rPr>
              <a:t>Every dated valuation precedes July 1. Missing next-season outcomes remain unknown.</a:t>
            </a:r>
          </a:p>
        </p:txBody>
      </p:sp>
    </p:spTree>
    <p:extLst>
      <p:ext uri="{BB962C8B-B14F-4D97-AF65-F5344CB8AC3E}">
        <p14:creationId xmlns:p14="http://schemas.microsoft.com/office/powerpoint/2010/main" val="1438899718"/>
      </p:ext>
    </p:extLst>
  </p:cSld>
</p:sld>
</file>

<file path=ppt/slides/slide2.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DF5C56F-355C-47E8-A5C3-0083C61943E1}"/>
              </a:ext>
            </a:extLst>
          </p:cNvPr>
          <p:cNvSpPr>
            <a:spLocks xmlns:a="http://schemas.openxmlformats.org/drawingml/2006/main" noGrp="1"/>
          </p:cNvSpPr>
          <p:nvPr/>
        </p:nvSpPr>
        <p:spPr>
          <a:xfrm xmlns:a="http://schemas.openxmlformats.org/drawingml/2006/main">
            <a:off x="590550" y="304800"/>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266"/>
                </a:solidFill>
                <a:latin typeface="Helvetica Neue"/>
                <a:ea typeface="Helvetica Neue"/>
                <a:cs typeface="Helvetica Neue"/>
              </a:defRPr>
            </a:pPr>
            <a:r>
              <a:rPr sz="1200" b="0">
                <a:solidFill>
                  <a:srgbClr val="617266"/>
                </a:solidFill>
                <a:latin typeface="Helvetica Neue"/>
                <a:ea typeface="Helvetica Neue"/>
                <a:cs typeface="Helvetica Neue"/>
              </a:rPr>
              <a:t>FOOTBALL RECRUITMENT SCORING</a:t>
            </a:r>
          </a:p>
        </p:txBody>
      </p:sp>
      <p:sp>
        <p:nvSpPr>
          <p:cNvPr id="2" name="">
            <a:extLst xmlns:a="http://schemas.openxmlformats.org/drawingml/2006/main">
              <a:ext uri="{FF2B5EF4-FFF2-40B4-BE49-F238E27FC236}">
                <a16:creationId xmlns:a16="http://schemas.microsoft.com/office/drawing/2014/main" id="{218B6730-0847-4196-9F8D-81091CACA3A5}"/>
              </a:ext>
            </a:extLst>
          </p:cNvPr>
          <p:cNvSpPr>
            <a:spLocks xmlns:a="http://schemas.openxmlformats.org/drawingml/2006/main" noGrp="1"/>
          </p:cNvSpPr>
          <p:nvPr/>
        </p:nvSpPr>
        <p:spPr>
          <a:xfrm xmlns:a="http://schemas.openxmlformats.org/drawingml/2006/main">
            <a:off x="590550" y="8286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0">
                <a:solidFill>
                  <a:srgbClr val="203F30"/>
                </a:solidFill>
                <a:latin typeface="Helvetica Neue"/>
                <a:ea typeface="Helvetica Neue"/>
                <a:cs typeface="Helvetica Neue"/>
              </a:defRPr>
            </a:pPr>
            <a:r>
              <a:rPr sz="3450" b="0">
                <a:solidFill>
                  <a:srgbClr val="203F30"/>
                </a:solidFill>
                <a:latin typeface="Helvetica Neue"/>
                <a:ea typeface="Helvetica Neue"/>
                <a:cs typeface="Helvetica Neue"/>
              </a:rPr>
              <a:t>Sensitivity to small input changes</a:t>
            </a:r>
          </a:p>
        </p:txBody>
      </p:sp>
      <p:sp>
        <p:nvSpPr>
          <p:cNvPr id="3" name="">
            <a:extLst xmlns:a="http://schemas.openxmlformats.org/drawingml/2006/main">
              <a:ext uri="{FF2B5EF4-FFF2-40B4-BE49-F238E27FC236}">
                <a16:creationId xmlns:a16="http://schemas.microsoft.com/office/drawing/2014/main" id="{3BB6B80A-4021-4C32-A0E5-FD03D775012D}"/>
              </a:ext>
            </a:extLst>
          </p:cNvPr>
          <p:cNvSpPr>
            <a:spLocks xmlns:a="http://schemas.openxmlformats.org/drawingml/2006/main" noGrp="1"/>
          </p:cNvSpPr>
          <p:nvPr/>
        </p:nvSpPr>
        <p:spPr>
          <a:xfrm xmlns:a="http://schemas.openxmlformats.org/drawingml/2006/main">
            <a:off x="11049000" y="62865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266"/>
                </a:solidFill>
                <a:latin typeface="Helvetica Neue"/>
                <a:ea typeface="Helvetica Neue"/>
                <a:cs typeface="Helvetica Neue"/>
              </a:defRPr>
            </a:pPr>
            <a:r>
              <a:rPr sz="1275" b="0">
                <a:solidFill>
                  <a:srgbClr val="617266"/>
                </a:solidFill>
                <a:latin typeface="Helvetica Neue"/>
                <a:ea typeface="Helvetica Neue"/>
                <a:cs typeface="Helvetica Neue"/>
              </a:rPr>
              <a:t>2/2</a:t>
            </a:r>
          </a:p>
        </p:txBody>
      </p:sp>
      <p:graphicFrame>
        <p:nvGraphicFramePr>
          <p:cNvPr id="10" name=""/>
          <p:cNvGraphicFramePr/>
          <p:nvPr/>
        </p:nvGraphicFramePr>
        <p:xfrm>
          <a:off xmlns:a="http://schemas.openxmlformats.org/drawingml/2006/main" x="590550" y="1847850"/>
          <a:ext xmlns:a="http://schemas.openxmlformats.org/drawingml/2006/main" cx="10934700" cy="2476500"/>
        </p:xfrm>
        <a:graphic xmlns:a="http://schemas.openxmlformats.org/drawingml/2006/main">
          <a:graphicData uri="http://schemas.openxmlformats.org/drawingml/2006/table">
            <a:tbl>
              <a:tblPr/>
              <a:tblGrid>
                <a:gridCol w="3714750"/>
                <a:gridCol w="4095750"/>
                <a:gridCol w="3124200"/>
              </a:tblGrid>
              <a:tr h="619125">
                <a:tc>
                  <a:txBody>
                    <a:bodyPr/>
                    <a:lstStyle/>
                    <a:p>
                      <a:r>
                        <a:rPr sz="1800" b="1">
                          <a:solidFill>
                            <a:srgbClr val="203F30"/>
                          </a:solidFill>
                          <a:latin typeface="Helvetica Neue"/>
                          <a:ea typeface="Helvetica Neue"/>
                          <a:cs typeface="Helvetica Neue"/>
                        </a:rPr>
                        <a:t>Model</a:t>
                      </a:r>
                    </a:p>
                  </a:txBody>
                  <a:tcPr marL="91440" marR="91440" marT="45720" marB="45720">
                    <a:solidFill>
                      <a:srgbClr val="E8ECE3"/>
                    </a:solidFill>
                  </a:tcPr>
                </a:tc>
                <a:tc>
                  <a:txBody>
                    <a:bodyPr/>
                    <a:lstStyle/>
                    <a:p>
                      <a:r>
                        <a:rPr sz="1800" b="1">
                          <a:solidFill>
                            <a:srgbClr val="203F30"/>
                          </a:solidFill>
                          <a:latin typeface="Helvetica Neue"/>
                          <a:ea typeface="Helvetica Neue"/>
                          <a:cs typeface="Helvetica Neue"/>
                        </a:rPr>
                        <a:t>Mean score change</a:t>
                      </a:r>
                    </a:p>
                  </a:txBody>
                  <a:tcPr marL="91440" marR="91440" marT="45720" marB="45720">
                    <a:solidFill>
                      <a:srgbClr val="E8ECE3"/>
                    </a:solidFill>
                  </a:tcPr>
                </a:tc>
                <a:tc>
                  <a:txBody>
                    <a:bodyPr/>
                    <a:lstStyle/>
                    <a:p>
                      <a:r>
                        <a:rPr sz="1800" b="1">
                          <a:solidFill>
                            <a:srgbClr val="203F30"/>
                          </a:solidFill>
                          <a:latin typeface="Helvetica Neue"/>
                          <a:ea typeface="Helvetica Neue"/>
                          <a:cs typeface="Helvetica Neue"/>
                        </a:rPr>
                        <a:t>Score PSI</a:t>
                      </a:r>
                    </a:p>
                  </a:txBody>
                  <a:tcPr marL="91440" marR="91440" marT="45720" marB="45720">
                    <a:solidFill>
                      <a:srgbClr val="E8ECE3"/>
                    </a:solidFill>
                  </a:tcPr>
                </a:tc>
              </a:tr>
              <a:tr h="619125">
                <a:tc>
                  <a:txBody>
                    <a:bodyPr/>
                    <a:lstStyle/>
                    <a:p>
                      <a:r>
                        <a:rPr sz="2100" b="0">
                          <a:solidFill>
                            <a:srgbClr val="203F30"/>
                          </a:solidFill>
                          <a:latin typeface="Helvetica Neue"/>
                          <a:ea typeface="Helvetica Neue"/>
                          <a:cs typeface="Helvetica Neue"/>
                        </a:rPr>
                        <a:t>Logistic</a:t>
                      </a:r>
                    </a:p>
                  </a:txBody>
                  <a:tcPr marL="91440" marR="91440" marT="45720" marB="45720">
                    <a:solidFill>
                      <a:srgbClr val="F7F6F0"/>
                    </a:solidFill>
                  </a:tcPr>
                </a:tc>
                <a:tc>
                  <a:txBody>
                    <a:bodyPr/>
                    <a:lstStyle/>
                    <a:p>
                      <a:r>
                        <a:rPr sz="2100" b="0">
                          <a:solidFill>
                            <a:srgbClr val="203F30"/>
                          </a:solidFill>
                          <a:latin typeface="Helvetica Neue"/>
                          <a:ea typeface="Helvetica Neue"/>
                          <a:cs typeface="Helvetica Neue"/>
                        </a:rPr>
                        <a:t>0.10 pp</a:t>
                      </a:r>
                    </a:p>
                  </a:txBody>
                  <a:tcPr marL="91440" marR="91440" marT="45720" marB="45720">
                    <a:solidFill>
                      <a:srgbClr val="F7F6F0"/>
                    </a:solidFill>
                  </a:tcPr>
                </a:tc>
                <a:tc>
                  <a:txBody>
                    <a:bodyPr/>
                    <a:lstStyle/>
                    <a:p>
                      <a:r>
                        <a:rPr sz="2100" b="0">
                          <a:solidFill>
                            <a:srgbClr val="203F30"/>
                          </a:solidFill>
                          <a:latin typeface="Helvetica Neue"/>
                          <a:ea typeface="Helvetica Neue"/>
                          <a:cs typeface="Helvetica Neue"/>
                        </a:rPr>
                        <a:t>0.029</a:t>
                      </a:r>
                    </a:p>
                  </a:txBody>
                  <a:tcPr marL="91440" marR="91440" marT="45720" marB="45720">
                    <a:solidFill>
                      <a:srgbClr val="F7F6F0"/>
                    </a:solidFill>
                  </a:tcPr>
                </a:tc>
              </a:tr>
              <a:tr h="619125">
                <a:tc>
                  <a:txBody>
                    <a:bodyPr/>
                    <a:lstStyle/>
                    <a:p>
                      <a:r>
                        <a:rPr sz="2100" b="0">
                          <a:solidFill>
                            <a:srgbClr val="203F30"/>
                          </a:solidFill>
                          <a:latin typeface="Helvetica Neue"/>
                          <a:ea typeface="Helvetica Neue"/>
                          <a:cs typeface="Helvetica Neue"/>
                        </a:rPr>
                        <a:t>Random Forest</a:t>
                      </a:r>
                    </a:p>
                  </a:txBody>
                  <a:tcPr marL="91440" marR="91440" marT="45720" marB="45720">
                    <a:solidFill>
                      <a:srgbClr val="F7F6F0"/>
                    </a:solidFill>
                  </a:tcPr>
                </a:tc>
                <a:tc>
                  <a:txBody>
                    <a:bodyPr/>
                    <a:lstStyle/>
                    <a:p>
                      <a:r>
                        <a:rPr sz="2100" b="0">
                          <a:solidFill>
                            <a:srgbClr val="203F30"/>
                          </a:solidFill>
                          <a:latin typeface="Helvetica Neue"/>
                          <a:ea typeface="Helvetica Neue"/>
                          <a:cs typeface="Helvetica Neue"/>
                        </a:rPr>
                        <a:t>0.23 pp</a:t>
                      </a:r>
                    </a:p>
                  </a:txBody>
                  <a:tcPr marL="91440" marR="91440" marT="45720" marB="45720">
                    <a:solidFill>
                      <a:srgbClr val="F7F6F0"/>
                    </a:solidFill>
                  </a:tcPr>
                </a:tc>
                <a:tc>
                  <a:txBody>
                    <a:bodyPr/>
                    <a:lstStyle/>
                    <a:p>
                      <a:r>
                        <a:rPr sz="2100" b="0">
                          <a:solidFill>
                            <a:srgbClr val="203F30"/>
                          </a:solidFill>
                          <a:latin typeface="Helvetica Neue"/>
                          <a:ea typeface="Helvetica Neue"/>
                          <a:cs typeface="Helvetica Neue"/>
                        </a:rPr>
                        <a:t>0.012</a:t>
                      </a:r>
                    </a:p>
                  </a:txBody>
                  <a:tcPr marL="91440" marR="91440" marT="45720" marB="45720">
                    <a:solidFill>
                      <a:srgbClr val="F7F6F0"/>
                    </a:solidFill>
                  </a:tcPr>
                </a:tc>
              </a:tr>
              <a:tr h="619125">
                <a:tc>
                  <a:txBody>
                    <a:bodyPr/>
                    <a:lstStyle/>
                    <a:p>
                      <a:r>
                        <a:rPr sz="2100" b="0">
                          <a:solidFill>
                            <a:srgbClr val="203F30"/>
                          </a:solidFill>
                          <a:latin typeface="Helvetica Neue"/>
                          <a:ea typeface="Helvetica Neue"/>
                          <a:cs typeface="Helvetica Neue"/>
                        </a:rPr>
                        <a:t>XGBoost</a:t>
                      </a:r>
                    </a:p>
                  </a:txBody>
                  <a:tcPr marL="91440" marR="91440" marT="45720" marB="45720">
                    <a:solidFill>
                      <a:srgbClr val="F7F6F0"/>
                    </a:solidFill>
                  </a:tcPr>
                </a:tc>
                <a:tc>
                  <a:txBody>
                    <a:bodyPr/>
                    <a:lstStyle/>
                    <a:p>
                      <a:r>
                        <a:rPr sz="2100" b="0">
                          <a:solidFill>
                            <a:srgbClr val="203F30"/>
                          </a:solidFill>
                          <a:latin typeface="Helvetica Neue"/>
                          <a:ea typeface="Helvetica Neue"/>
                          <a:cs typeface="Helvetica Neue"/>
                        </a:rPr>
                        <a:t>0.37 pp</a:t>
                      </a:r>
                    </a:p>
                  </a:txBody>
                  <a:tcPr marL="91440" marR="91440" marT="45720" marB="45720">
                    <a:solidFill>
                      <a:srgbClr val="F7F6F0"/>
                    </a:solidFill>
                  </a:tcPr>
                </a:tc>
                <a:tc>
                  <a:txBody>
                    <a:bodyPr/>
                    <a:lstStyle/>
                    <a:p>
                      <a:r>
                        <a:rPr sz="2100" b="0">
                          <a:solidFill>
                            <a:srgbClr val="203F30"/>
                          </a:solidFill>
                          <a:latin typeface="Helvetica Neue"/>
                          <a:ea typeface="Helvetica Neue"/>
                          <a:cs typeface="Helvetica Neue"/>
                        </a:rPr>
                        <a:t>0.011</a:t>
                      </a:r>
                    </a:p>
                  </a:txBody>
                  <a:tcPr marL="91440" marR="91440" marT="45720" marB="45720">
                    <a:solidFill>
                      <a:srgbClr val="F7F6F0"/>
                    </a:solidFill>
                  </a:tcPr>
                </a:tc>
              </a:tr>
            </a:tbl>
          </a:graphicData>
        </a:graphic>
      </p:graphicFrame>
      <p:sp>
        <p:nvSpPr>
          <p:cNvPr id="5" name="">
            <a:extLst xmlns:a="http://schemas.openxmlformats.org/drawingml/2006/main">
              <a:ext uri="{FF2B5EF4-FFF2-40B4-BE49-F238E27FC236}">
                <a16:creationId xmlns:a16="http://schemas.microsoft.com/office/drawing/2014/main" id="{DD6BAE9F-1799-4768-BBA5-ACBF7897CD6F}"/>
              </a:ext>
            </a:extLst>
          </p:cNvPr>
          <p:cNvSpPr>
            <a:spLocks xmlns:a="http://schemas.openxmlformats.org/drawingml/2006/main" noGrp="1"/>
          </p:cNvSpPr>
          <p:nvPr/>
        </p:nvSpPr>
        <p:spPr>
          <a:xfrm xmlns:a="http://schemas.openxmlformats.org/drawingml/2006/main">
            <a:off x="590550" y="4733925"/>
            <a:ext cx="10934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03F30"/>
                </a:solidFill>
                <a:latin typeface="Helvetica Neue"/>
                <a:ea typeface="Helvetica Neue"/>
                <a:cs typeface="Helvetica Neue"/>
              </a:defRPr>
            </a:pPr>
            <a:r>
              <a:rPr sz="2400" b="1">
                <a:solidFill>
                  <a:srgbClr val="203F30"/>
                </a:solidFill>
                <a:latin typeface="Helvetica Neue"/>
                <a:ea typeface="Helvetica Neue"/>
                <a:cs typeface="Helvetica Neue"/>
              </a:rPr>
              <a:t>Logistic scores move least in this noise test</a:t>
            </a:r>
          </a:p>
        </p:txBody>
      </p:sp>
      <p:sp>
        <p:nvSpPr>
          <p:cNvPr id="6" name="">
            <a:extLst xmlns:a="http://schemas.openxmlformats.org/drawingml/2006/main">
              <a:ext uri="{FF2B5EF4-FFF2-40B4-BE49-F238E27FC236}">
                <a16:creationId xmlns:a16="http://schemas.microsoft.com/office/drawing/2014/main" id="{E75D363F-597D-402A-B8E9-E90B4577B773}"/>
              </a:ext>
            </a:extLst>
          </p:cNvPr>
          <p:cNvSpPr>
            <a:spLocks xmlns:a="http://schemas.openxmlformats.org/drawingml/2006/main" noGrp="1"/>
          </p:cNvSpPr>
          <p:nvPr/>
        </p:nvSpPr>
        <p:spPr>
          <a:xfrm xmlns:a="http://schemas.openxmlformats.org/drawingml/2006/main">
            <a:off x="590550" y="5334000"/>
            <a:ext cx="1093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17266"/>
                </a:solidFill>
                <a:latin typeface="Helvetica Neue"/>
                <a:ea typeface="Helvetica Neue"/>
                <a:cs typeface="Helvetica Neue"/>
              </a:defRPr>
            </a:pPr>
            <a:r>
              <a:rPr sz="1875" b="0">
                <a:solidFill>
                  <a:srgbClr val="617266"/>
                </a:solidFill>
                <a:latin typeface="Helvetica Neue"/>
                <a:ea typeface="Helvetica Neue"/>
                <a:cs typeface="Helvetica Neue"/>
              </a:rPr>
              <a:t>1% training-SD noise on age, height and valuations.</a:t>
            </a:r>
          </a:p>
          <a:p xmlns:a="http://schemas.openxmlformats.org/drawingml/2006/main">
            <a:pPr>
              <a:defRPr sz="1875" b="0">
                <a:solidFill>
                  <a:srgbClr val="617266"/>
                </a:solidFill>
                <a:latin typeface="Helvetica Neue"/>
                <a:ea typeface="Helvetica Neue"/>
                <a:cs typeface="Helvetica Neue"/>
              </a:defRPr>
            </a:pPr>
            <a:r>
              <a:rPr sz="1875" b="0">
                <a:solidFill>
                  <a:srgbClr val="617266"/>
                </a:solidFill>
                <a:latin typeface="Helvetica Neue"/>
                <a:ea typeface="Helvetica Neue"/>
                <a:cs typeface="Helvetica Neue"/>
              </a:rPr>
              <a:t>PSI compares validation scores with test scores.</a:t>
            </a:r>
          </a:p>
        </p:txBody>
      </p:sp>
    </p:spTree>
    <p:extLst>
      <p:ext uri="{BB962C8B-B14F-4D97-AF65-F5344CB8AC3E}">
        <p14:creationId xmlns:p14="http://schemas.microsoft.com/office/powerpoint/2010/main" val="1483191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2026-09-22T14:54:16.3410000Z</dcterms:created>
  <dcterms:modified xsi:type="dcterms:W3CDTF">2026-09-22T14:54:16.3410000Z</dcterms:modified>
</coreProperties>
</file>